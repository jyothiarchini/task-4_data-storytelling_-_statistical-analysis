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6E44B7-D990-4004-9BC2-D0F24A51B105}">
  <a:tblStyle styleId="{7C6E44B7-D990-4004-9BC2-D0F24A51B1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1" Type="http://schemas.openxmlformats.org/officeDocument/2006/relationships/image" Target="../media/image12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8.png"/><Relationship Id="rId13" Type="http://schemas.openxmlformats.org/officeDocument/2006/relationships/image" Target="../media/image2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9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Relationship Id="rId8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9" Type="http://schemas.openxmlformats.org/officeDocument/2006/relationships/image" Target="../media/image59.png"/><Relationship Id="rId5" Type="http://schemas.openxmlformats.org/officeDocument/2006/relationships/image" Target="../media/image55.png"/><Relationship Id="rId6" Type="http://schemas.openxmlformats.org/officeDocument/2006/relationships/image" Target="../media/image58.png"/><Relationship Id="rId7" Type="http://schemas.openxmlformats.org/officeDocument/2006/relationships/image" Target="../media/image60.png"/><Relationship Id="rId8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2.png"/><Relationship Id="rId5" Type="http://schemas.openxmlformats.org/officeDocument/2006/relationships/image" Target="../media/image61.png"/><Relationship Id="rId6" Type="http://schemas.openxmlformats.org/officeDocument/2006/relationships/image" Target="../media/image67.png"/><Relationship Id="rId7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047750"/>
            <a:ext cx="5334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057275"/>
            <a:ext cx="53149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234529"/>
            <a:ext cx="52006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Superstore Sales Analysis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2765970"/>
            <a:ext cx="520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8E2B"/>
                </a:solidFill>
                <a:latin typeface="Poppins"/>
                <a:ea typeface="Poppins"/>
                <a:cs typeface="Poppins"/>
                <a:sym typeface="Poppins"/>
              </a:rPr>
              <a:t>Data Storytelling &amp; Statistical Validation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25187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Internship Task 4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470907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Karri Jyothi Archini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5166270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 related to Superstore Sales Analysis" id="93" name="Google Shape;9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6975" y="990600"/>
            <a:ext cx="5334001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43375"/>
            <a:ext cx="11049000" cy="1721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76375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1375" y="1476375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1476375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1476375"/>
            <a:ext cx="26193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29025" y="17240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8900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48775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Defining the Business Problem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52500" y="4524375"/>
            <a:ext cx="10287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"Although Superstore generated over </a:t>
            </a:r>
            <a:r>
              <a:rPr b="1" i="0" lang="en-US" sz="1800" u="none" cap="none" strike="noStrike">
                <a:solidFill>
                  <a:srgbClr val="F28E2B"/>
                </a:solidFill>
                <a:latin typeface="Lato"/>
                <a:ea typeface="Lato"/>
                <a:cs typeface="Lato"/>
                <a:sym typeface="Lato"/>
              </a:rPr>
              <a:t>₹2.3M</a:t>
            </a:r>
            <a:r>
              <a:rPr b="0" i="0" lang="en-US" sz="1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 sales, profitability varied across products, customers, and regions. This project aims to identify performance drivers and recommend data-driven improvements."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19150" y="2171700"/>
            <a:ext cx="12901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High Sales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19150" y="2790825"/>
            <a:ext cx="21240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Volume is robust at ₹2.3M+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629025" y="2171700"/>
            <a:ext cx="16702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Uneven Profit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629025" y="279082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Varied across categories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438900" y="2171700"/>
            <a:ext cx="172021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438900" y="2790825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Identify driving factors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248775" y="2171700"/>
            <a:ext cx="199024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Better Decisions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248775" y="2790825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Strategic optimization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3686175"/>
            <a:ext cx="5143500" cy="68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15"/>
          <p:cNvGraphicFramePr/>
          <p:nvPr/>
        </p:nvGraphicFramePr>
        <p:xfrm>
          <a:off x="571500" y="1943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{7C6E44B7-D990-4004-9BC2-D0F24A51B105}</a:tableStyleId>
              </a:tblPr>
              <a:tblGrid>
                <a:gridCol w="3213350"/>
                <a:gridCol w="2120650"/>
              </a:tblGrid>
              <a:tr h="5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5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₹2.30M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Realized Profit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₹286K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Order Records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5000+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Categories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 Segments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Regional Coverage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 Regions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947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1947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357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2357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767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2767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176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20187" y="31765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Dataset Structural Overview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Key Dimensional Statistics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477000" y="1476375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Analyzed Variable Scope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477000" y="1905000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Orders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9120187" y="1905000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Customers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77000" y="2314575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Products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120187" y="2314575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Sales Metrics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477000" y="2724150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Profitability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120187" y="2724150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Discounts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477000" y="3133725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Quantities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120187" y="3133725"/>
            <a:ext cx="250031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Shipping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686550" y="3895725"/>
            <a:ext cx="4724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Empirical source: </a:t>
            </a:r>
            <a:r>
              <a:rPr b="1" i="1" lang="en-US" sz="1500" u="none" cap="none" strike="noStrike">
                <a:solidFill>
                  <a:srgbClr val="F28E2B"/>
                </a:solidFill>
                <a:latin typeface="Lato"/>
                <a:ea typeface="Lato"/>
                <a:cs typeface="Lato"/>
                <a:sym typeface="Lato"/>
              </a:rPr>
              <a:t>cleaned_sales_data.csv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571500" y="3043237"/>
            <a:ext cx="3213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784848" y="304323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71500" y="3605212"/>
            <a:ext cx="3213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784848" y="3605212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71500" y="4167187"/>
            <a:ext cx="3213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3784848" y="416718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571500" y="4729162"/>
            <a:ext cx="3213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3784848" y="4729162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71500" y="5291137"/>
            <a:ext cx="32133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3784848" y="5291137"/>
            <a:ext cx="2120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7875"/>
            <a:ext cx="179829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4140" y="2047875"/>
            <a:ext cx="179829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96780" y="2047875"/>
            <a:ext cx="179829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09420" y="2047875"/>
            <a:ext cx="179829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22060" y="2047875"/>
            <a:ext cx="179829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295650"/>
            <a:ext cx="355595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17950" y="3295650"/>
            <a:ext cx="355595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64400" y="3295650"/>
            <a:ext cx="3556099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0290" y="2309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72930" y="2309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5570" y="2309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98210" y="23098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Data Preprocessing Pipeline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19150" y="3543300"/>
            <a:ext cx="10701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Integrity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19150" y="4162425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Removed duplicate records to prevent double-counting.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4565600" y="3543300"/>
            <a:ext cx="12101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Accuracy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565600" y="4162425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Patched missing values in location profiles.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8312050" y="3543300"/>
            <a:ext cx="20402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Standardization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312050" y="4162425"/>
            <a:ext cx="30607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Converted date types and aligned taxonomy.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3340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09950"/>
            <a:ext cx="53340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52600"/>
            <a:ext cx="2595562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24937" y="1752600"/>
            <a:ext cx="2595562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571750"/>
            <a:ext cx="259556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4937" y="2571750"/>
            <a:ext cx="259556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 title="executive_over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1025" y="1727949"/>
            <a:ext cx="5314949" cy="318302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Executive Sales Overview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286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Key Performance Indicators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6524625" y="3790950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Business Insight: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524625" y="4248150"/>
            <a:ext cx="4905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Technology contributes the highest operational profit, while Furniture requires immediate margin improvement.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334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title="regional_performan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" y="1687716"/>
            <a:ext cx="5314948" cy="316824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Regional Performance Matrix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6286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Primary Regional Findings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362700" y="19050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477000" y="1905000"/>
            <a:ext cx="514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West Region Dominance: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Leads the country with both the highest gross sales and net profit.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6362700" y="26289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477000" y="2628900"/>
            <a:ext cx="514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California Leads: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Highest performing single-state market across all operations.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362700" y="33528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477000" y="3352800"/>
            <a:ext cx="5143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Class Shipping: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Most popular fulfillment method (used in over 59% of orders).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334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24275"/>
            <a:ext cx="53340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752600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362200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971800"/>
            <a:ext cx="53340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title="customer_segmentati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025" y="1679211"/>
            <a:ext cx="5314949" cy="318525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Customer Segment Analysis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286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Cohort Value Breakdown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486525" y="4114800"/>
            <a:ext cx="4933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Recommendation:</a:t>
            </a:r>
            <a:r>
              <a:rPr b="0" i="0" lang="en-US" sz="15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 Focus on retaining high-value cohorts while converting medium-value users into loyalists.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26193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1476375"/>
            <a:ext cx="26193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2800"/>
            <a:ext cx="26193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6125" y="3352800"/>
            <a:ext cx="261937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title="sales vs profits.png"/>
          <p:cNvPicPr preferRelativeResize="0"/>
          <p:nvPr/>
        </p:nvPicPr>
        <p:blipFill rotWithShape="1">
          <a:blip r:embed="rId5">
            <a:alphaModFix/>
          </a:blip>
          <a:srcRect b="0" l="1428" r="1438" t="0"/>
          <a:stretch/>
        </p:blipFill>
        <p:spPr>
          <a:xfrm>
            <a:off x="581025" y="1485900"/>
            <a:ext cx="2600326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title="sales distribution.png"/>
          <p:cNvPicPr preferRelativeResize="0"/>
          <p:nvPr/>
        </p:nvPicPr>
        <p:blipFill rotWithShape="1">
          <a:blip r:embed="rId6">
            <a:alphaModFix/>
          </a:blip>
          <a:srcRect b="0" l="4611" r="4611" t="0"/>
          <a:stretch/>
        </p:blipFill>
        <p:spPr>
          <a:xfrm>
            <a:off x="3295650" y="1485900"/>
            <a:ext cx="2600325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title="Sales by region.png"/>
          <p:cNvPicPr preferRelativeResize="0"/>
          <p:nvPr/>
        </p:nvPicPr>
        <p:blipFill rotWithShape="1">
          <a:blip r:embed="rId7">
            <a:alphaModFix/>
          </a:blip>
          <a:srcRect b="4841" l="0" r="0" t="4841"/>
          <a:stretch/>
        </p:blipFill>
        <p:spPr>
          <a:xfrm>
            <a:off x="581025" y="3362325"/>
            <a:ext cx="2600324" cy="176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title="profit by category.png"/>
          <p:cNvPicPr preferRelativeResize="0"/>
          <p:nvPr/>
        </p:nvPicPr>
        <p:blipFill rotWithShape="1">
          <a:blip r:embed="rId8">
            <a:alphaModFix/>
          </a:blip>
          <a:srcRect b="367" l="0" r="0" t="357"/>
          <a:stretch/>
        </p:blipFill>
        <p:spPr>
          <a:xfrm>
            <a:off x="3295650" y="3362325"/>
            <a:ext cx="2600325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477000" y="1476375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Data Science Insights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553200" y="19240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667500" y="1924050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Sales and Profit show a moderate positive correlation (r=0.48).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553200" y="25527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667500" y="2552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Discounts exhibit a negative relationship with Profit.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553200" y="29146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667500" y="29146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High-value transactions drive the bulk of total revenue.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553200" y="32766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667500" y="32766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West region consistently outpaces other territories.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8405"/>
            <a:ext cx="5334000" cy="1410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655046"/>
            <a:ext cx="2735758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476375"/>
            <a:ext cx="5334000" cy="3965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4362450"/>
            <a:ext cx="4743450" cy="784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238375"/>
            <a:ext cx="22764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0" y="2238375"/>
            <a:ext cx="22764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206055"/>
            <a:ext cx="1213842" cy="196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3759100"/>
            <a:ext cx="1211460" cy="196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476934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6734175" y="2390775"/>
            <a:ext cx="590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T-Statistic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734175" y="2552700"/>
            <a:ext cx="714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106.49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9201150" y="2390775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P-Value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9201150" y="2552700"/>
            <a:ext cx="714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0.0000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Statistical Validation</a:t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71500" y="147637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28E2B"/>
                </a:solidFill>
                <a:latin typeface="Poppins"/>
                <a:ea typeface="Poppins"/>
                <a:cs typeface="Poppins"/>
                <a:sym typeface="Poppins"/>
              </a:rPr>
              <a:t>Business Question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571500" y="1981200"/>
            <a:ext cx="5334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Does deal size significantly affect sales?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571500" y="2539305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Hypotheses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771525" y="3402955"/>
            <a:ext cx="493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(No significant difference in average sales)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771525" y="3956000"/>
            <a:ext cx="493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(Significant difference exists in average sales)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81775" y="1771650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Statistical Test: </a:t>
            </a:r>
            <a:r>
              <a:rPr b="0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t-test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581775" y="326707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Key Findings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657975" y="35433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772275" y="3543300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Avg Sales (Large Deals): </a:t>
            </a:r>
            <a:r>
              <a:rPr b="1" i="0" lang="en-US" sz="1500" u="none" cap="none" strike="noStrike">
                <a:solidFill>
                  <a:srgbClr val="F28E2B"/>
                </a:solidFill>
                <a:latin typeface="Lato"/>
                <a:ea typeface="Lato"/>
                <a:cs typeface="Lato"/>
                <a:sym typeface="Lato"/>
              </a:rPr>
              <a:t>8,293.75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657975" y="381000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6772275" y="3810000"/>
            <a:ext cx="4552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Avg Sales (Small Deals): </a:t>
            </a:r>
            <a:r>
              <a:rPr b="1" i="0" lang="en-US" sz="1500" u="none" cap="none" strike="noStrike">
                <a:solidFill>
                  <a:srgbClr val="F28E2B"/>
                </a:solidFill>
                <a:latin typeface="Lato"/>
                <a:ea typeface="Lato"/>
                <a:cs typeface="Lato"/>
                <a:sym typeface="Lato"/>
              </a:rPr>
              <a:t>2,061.68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6734175" y="4514850"/>
            <a:ext cx="4438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Large deals generate significantly higher sales. Implement strategies that encourage larger purchases.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7240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600" y="17240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2050" y="17240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7719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5600" y="37719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37719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Key Business Insights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819150" y="2362200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Technology generates the highest profit margin.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565600" y="2362200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Furniture requires pricing optimization.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8312050" y="2362200"/>
            <a:ext cx="30607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West is the strongest regional performer.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819150" y="4410075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High-value customers drive top-line revenue.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4565600" y="4410075"/>
            <a:ext cx="3060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Excessive discounts erode profitability.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8312050" y="4410075"/>
            <a:ext cx="30607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Dashboards enable faster tactical decisions.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538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476375"/>
            <a:ext cx="53816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33750"/>
            <a:ext cx="53816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3333750"/>
            <a:ext cx="5381625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Strategic Action Plan</a:t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885825" y="1724025"/>
            <a:ext cx="20102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Pricing Strategy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885825" y="2343150"/>
            <a:ext cx="4543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Optimize discounting thresholds to protect net margins.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553200" y="1724025"/>
            <a:ext cx="170021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Growth Focus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6553200" y="2343150"/>
            <a:ext cx="4333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Expand operations and inventory in the West Region.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885825" y="3581400"/>
            <a:ext cx="14701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Product Mix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885825" y="4200525"/>
            <a:ext cx="4819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Prioritize high-margin Technology sales over low-margin units.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553200" y="3581400"/>
            <a:ext cx="184023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CRM Initiatives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553200" y="4200525"/>
            <a:ext cx="4371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Launch VIP retention programs for the top 20 buyers.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19050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1476375"/>
            <a:ext cx="8572500" cy="539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/>
          <p:nvPr/>
        </p:nvSpPr>
        <p:spPr>
          <a:xfrm>
            <a:off x="2381250" y="3975645"/>
            <a:ext cx="74295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2381250" y="2314575"/>
            <a:ext cx="7429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F4E79"/>
                </a:solidFill>
                <a:latin typeface="Lato"/>
                <a:ea typeface="Lato"/>
                <a:cs typeface="Lato"/>
                <a:sym typeface="Lato"/>
              </a:rPr>
              <a:t>This project demonstrates how data cleaning, statistical validation, and interactive storytelling transform raw data into </a:t>
            </a:r>
            <a:r>
              <a:rPr b="1" i="0" lang="en-US" sz="2100" u="none" cap="none" strike="noStrike">
                <a:solidFill>
                  <a:srgbClr val="F28E2B"/>
                </a:solidFill>
                <a:latin typeface="Lato"/>
                <a:ea typeface="Lato"/>
                <a:cs typeface="Lato"/>
                <a:sym typeface="Lato"/>
              </a:rPr>
              <a:t>actionable business intelligence.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2195512" y="4375695"/>
            <a:ext cx="78009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F4E79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2381250" y="5747295"/>
            <a:ext cx="7429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Are there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